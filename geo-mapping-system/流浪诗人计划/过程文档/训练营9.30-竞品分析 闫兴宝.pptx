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91" r:id="rId6"/>
    <p:sldId id="288" r:id="rId7"/>
    <p:sldId id="260" r:id="rId8"/>
    <p:sldId id="294" r:id="rId9"/>
    <p:sldId id="295" r:id="rId10"/>
    <p:sldId id="293" r:id="rId11"/>
    <p:sldId id="290" r:id="rId12"/>
    <p:sldId id="292" r:id="rId13"/>
    <p:sldId id="296" r:id="rId14"/>
    <p:sldId id="298" r:id="rId15"/>
  </p:sldIdLst>
  <p:sldSz cx="12192000" cy="6858000" type="screen4x3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378" y="96"/>
      </p:cViewPr>
      <p:guideLst>
        <p:guide orient="horz" pos="2137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541E6-FD60-47DD-9595-423AC9A2AA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ac1421d3-8b4e-422a-b892-e51086d04a2e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bd9674ce-7138-4f64-95c0-953e83785393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669925" y="1130299"/>
            <a:ext cx="10852150" cy="2379663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669925" y="3602038"/>
            <a:ext cx="1085215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5" y="1130300"/>
            <a:ext cx="10850563" cy="343217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 hasCustomPrompt="1"/>
          </p:nvPr>
        </p:nvSpPr>
        <p:spPr>
          <a:xfrm>
            <a:off x="669925" y="4589463"/>
            <a:ext cx="10850563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 hasCustomPrompt="1"/>
          </p:nvPr>
        </p:nvSpPr>
        <p:spPr>
          <a:xfrm>
            <a:off x="669925" y="1130300"/>
            <a:ext cx="5349875" cy="50466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 hasCustomPrompt="1"/>
          </p:nvPr>
        </p:nvSpPr>
        <p:spPr>
          <a:xfrm>
            <a:off x="6172200" y="1130300"/>
            <a:ext cx="5348288" cy="50466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日期占位符 7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5" y="1"/>
            <a:ext cx="10850563" cy="10287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 hasCustomPrompt="1"/>
          </p:nvPr>
        </p:nvSpPr>
        <p:spPr>
          <a:xfrm>
            <a:off x="669926" y="1137955"/>
            <a:ext cx="53276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 hasCustomPrompt="1"/>
          </p:nvPr>
        </p:nvSpPr>
        <p:spPr>
          <a:xfrm>
            <a:off x="669926" y="1961867"/>
            <a:ext cx="5327650" cy="417540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/>
          <p:nvPr>
            <p:ph type="body" sz="quarter" idx="3" hasCustomPrompt="1"/>
          </p:nvPr>
        </p:nvSpPr>
        <p:spPr>
          <a:xfrm>
            <a:off x="6172200" y="1137955"/>
            <a:ext cx="53482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/>
          <p:nvPr>
            <p:ph sz="quarter" idx="4" hasCustomPrompt="1"/>
          </p:nvPr>
        </p:nvSpPr>
        <p:spPr>
          <a:xfrm>
            <a:off x="6172200" y="1961867"/>
            <a:ext cx="5348288" cy="417540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10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3" name="灯片编号占位符 12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5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6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8" name="灯片编号占位符 7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4" y="1130299"/>
            <a:ext cx="4879849" cy="1195387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idx="1" hasCustomPrompt="1"/>
          </p:nvPr>
        </p:nvSpPr>
        <p:spPr>
          <a:xfrm>
            <a:off x="5884752" y="1130299"/>
            <a:ext cx="5635736" cy="50069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/>
          <p:nvPr>
            <p:ph type="body" sz="half" idx="2" hasCustomPrompt="1"/>
          </p:nvPr>
        </p:nvSpPr>
        <p:spPr>
          <a:xfrm>
            <a:off x="669924" y="2325687"/>
            <a:ext cx="4879849" cy="38115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1" name="灯片编号占位符 10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4" y="1130300"/>
            <a:ext cx="4716887" cy="119870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712737" y="1130300"/>
            <a:ext cx="5807750" cy="50102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 hasCustomPrompt="1"/>
          </p:nvPr>
        </p:nvSpPr>
        <p:spPr>
          <a:xfrm>
            <a:off x="669924" y="2329004"/>
            <a:ext cx="4716887" cy="381158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7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610600" y="1130300"/>
            <a:ext cx="2909888" cy="5006976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 hasCustomPrompt="1"/>
          </p:nvPr>
        </p:nvSpPr>
        <p:spPr>
          <a:xfrm>
            <a:off x="669925" y="1130300"/>
            <a:ext cx="7731691" cy="5006976"/>
          </a:xfrm>
        </p:spPr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28000"/>
            </a:blip>
            <a:srcRect/>
            <a:stretch>
              <a:fillRect t="-86945" r="-80000" b="-13305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/>
          <p:nvPr>
            <p:ph type="title"/>
          </p:nvPr>
        </p:nvSpPr>
        <p:spPr>
          <a:xfrm>
            <a:off x="669925" y="12041"/>
            <a:ext cx="10850563" cy="10166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669925" y="1130301"/>
            <a:ext cx="10850563" cy="5006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4640263" y="6238875"/>
            <a:ext cx="2911475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669925" y="6238875"/>
            <a:ext cx="3422241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Design by </a:t>
            </a:r>
            <a:r>
              <a:rPr lang="en-US" altLang="zh-CN" dirty="0" err="1"/>
              <a:t>ZXSlide</a:t>
            </a:r>
            <a:endParaRPr lang="en-US" altLang="zh-CN" dirty="0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238875"/>
            <a:ext cx="2909888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webp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/>
            <a:srcRect/>
            <a:stretch>
              <a:fillRect l="-23871" t="-28289" r="-15887" b="-1201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/>
          <p:nvPr>
            <p:ph type="ctrTitle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9.30前端训练营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/>
          <p:cNvSpPr/>
          <p:nvPr>
            <p:ph type="subTitle" idx="1"/>
          </p:nvPr>
        </p:nvSpPr>
        <p:spPr/>
        <p:txBody>
          <a:bodyPr/>
          <a:lstStyle/>
          <a:p>
            <a:pPr algn="l"/>
            <a:endParaRPr lang="en-US" altLang="zh-CN" dirty="0"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69925" y="3556000"/>
            <a:ext cx="65727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0" y="2946219"/>
            <a:ext cx="6243144" cy="854786"/>
            <a:chOff x="0" y="2946219"/>
            <a:chExt cx="6243144" cy="854786"/>
          </a:xfrm>
        </p:grpSpPr>
        <p:sp>
          <p:nvSpPr>
            <p:cNvPr id="7" name="矩形 6"/>
            <p:cNvSpPr/>
            <p:nvPr/>
          </p:nvSpPr>
          <p:spPr bwMode="auto">
            <a:xfrm>
              <a:off x="4468605" y="3190418"/>
              <a:ext cx="252494" cy="252494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4726665" y="3131414"/>
              <a:ext cx="53437" cy="53437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349743" y="3448477"/>
              <a:ext cx="113295" cy="113295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4328590" y="3358748"/>
              <a:ext cx="53437" cy="53437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0" y="3429075"/>
              <a:ext cx="4131969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 bwMode="auto">
            <a:xfrm>
              <a:off x="4111855" y="3406215"/>
              <a:ext cx="45719" cy="45720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47000" y="3561772"/>
              <a:ext cx="1296144" cy="23923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CONTENTS</a:t>
              </a:r>
              <a:endParaRPr lang="en-US" altLang="zh-CN" dirty="0">
                <a:solidFill>
                  <a:schemeClr val="tx2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947000" y="2946219"/>
              <a:ext cx="1296144" cy="61555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 algn="dist"/>
              <a:r>
                <a:rPr lang="zh-CN" altLang="en-US" sz="4000" b="1" dirty="0">
                  <a:solidFill>
                    <a:schemeClr val="tx2"/>
                  </a:solidFill>
                </a:rPr>
                <a:t>目录</a:t>
              </a:r>
              <a:endParaRPr lang="zh-CN" altLang="en-US" sz="4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616881" y="1439024"/>
            <a:ext cx="3906637" cy="847227"/>
            <a:chOff x="7616881" y="1439024"/>
            <a:chExt cx="3906637" cy="847227"/>
          </a:xfrm>
        </p:grpSpPr>
        <p:sp>
          <p:nvSpPr>
            <p:cNvPr id="15" name="矩形 14"/>
            <p:cNvSpPr/>
            <p:nvPr/>
          </p:nvSpPr>
          <p:spPr bwMode="auto">
            <a:xfrm>
              <a:off x="8121000" y="1851905"/>
              <a:ext cx="3399488" cy="29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900" dirty="0"/>
                <a:t>Suitable for all categories business and personal presentation.</a:t>
              </a:r>
              <a:endParaRPr lang="en-US" altLang="zh-CN" sz="900" dirty="0"/>
            </a:p>
          </p:txBody>
        </p:sp>
        <p:sp>
          <p:nvSpPr>
            <p:cNvPr id="16" name="文本框 15"/>
            <p:cNvSpPr txBox="1"/>
            <p:nvPr/>
          </p:nvSpPr>
          <p:spPr bwMode="auto">
            <a:xfrm>
              <a:off x="8121000" y="1439024"/>
              <a:ext cx="33994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Cesium框架</a:t>
              </a:r>
              <a:endParaRPr lang="en-US" altLang="zh-CN" sz="1800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616881" y="1529279"/>
              <a:ext cx="446918" cy="482304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01</a:t>
              </a:r>
              <a:endPara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7616881" y="2286251"/>
              <a:ext cx="390663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7616881" y="2515489"/>
            <a:ext cx="3906637" cy="847227"/>
            <a:chOff x="7616881" y="2515489"/>
            <a:chExt cx="3906637" cy="847227"/>
          </a:xfrm>
        </p:grpSpPr>
        <p:sp>
          <p:nvSpPr>
            <p:cNvPr id="19" name="矩形 18"/>
            <p:cNvSpPr/>
            <p:nvPr/>
          </p:nvSpPr>
          <p:spPr bwMode="auto">
            <a:xfrm>
              <a:off x="8121000" y="2928370"/>
              <a:ext cx="3399488" cy="29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900" dirty="0"/>
                <a:t>Suitable for all categories business and personal presentation.</a:t>
              </a:r>
              <a:endParaRPr lang="en-US" altLang="zh-CN" sz="900" dirty="0"/>
            </a:p>
          </p:txBody>
        </p:sp>
        <p:sp>
          <p:nvSpPr>
            <p:cNvPr id="20" name="文本框 19"/>
            <p:cNvSpPr txBox="1"/>
            <p:nvPr/>
          </p:nvSpPr>
          <p:spPr bwMode="auto">
            <a:xfrm>
              <a:off x="8121000" y="2515489"/>
              <a:ext cx="33994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/>
                <a:t>全知识</a:t>
              </a:r>
              <a:r>
                <a:rPr lang="en-US" altLang="zh-CN" sz="1800" b="1" dirty="0"/>
                <a:t>PC+</a:t>
              </a:r>
              <a:r>
                <a:rPr lang="zh-CN" altLang="en-US" sz="1800" b="1" dirty="0"/>
                <a:t>移动端</a:t>
              </a:r>
              <a:r>
                <a:rPr lang="zh-CN" altLang="en-US" sz="1800" b="1" dirty="0"/>
                <a:t>分析</a:t>
              </a:r>
              <a:endParaRPr lang="zh-CN" altLang="en-US" sz="1800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616881" y="2605744"/>
              <a:ext cx="446918" cy="482304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02</a:t>
              </a:r>
              <a:endPara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7616881" y="3362716"/>
              <a:ext cx="390663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7616881" y="3591954"/>
            <a:ext cx="3906637" cy="847227"/>
            <a:chOff x="7616881" y="3591954"/>
            <a:chExt cx="3906637" cy="847227"/>
          </a:xfrm>
        </p:grpSpPr>
        <p:sp>
          <p:nvSpPr>
            <p:cNvPr id="23" name="矩形 22"/>
            <p:cNvSpPr/>
            <p:nvPr/>
          </p:nvSpPr>
          <p:spPr bwMode="auto">
            <a:xfrm>
              <a:off x="8121000" y="4004835"/>
              <a:ext cx="3399488" cy="29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900" dirty="0"/>
                <a:t>Suitable for all categories business and personal presentation.</a:t>
              </a:r>
              <a:endParaRPr lang="en-US" altLang="zh-CN" sz="900" dirty="0"/>
            </a:p>
          </p:txBody>
        </p:sp>
        <p:sp>
          <p:nvSpPr>
            <p:cNvPr id="24" name="文本框 23"/>
            <p:cNvSpPr txBox="1"/>
            <p:nvPr/>
          </p:nvSpPr>
          <p:spPr bwMode="auto">
            <a:xfrm>
              <a:off x="8121000" y="3591954"/>
              <a:ext cx="33994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唐诗别苑</a:t>
              </a:r>
              <a:r>
                <a:rPr lang="en-US" altLang="zh-CN" b="1" dirty="0"/>
                <a:t>PC</a:t>
              </a:r>
              <a:r>
                <a:rPr lang="zh-CN" altLang="en-US" b="1" dirty="0"/>
                <a:t>端分析</a:t>
              </a:r>
              <a:endParaRPr lang="en-US" altLang="zh-CN" b="1" dirty="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616881" y="3682209"/>
              <a:ext cx="446918" cy="482304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03</a:t>
              </a:r>
              <a:endPara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7616881" y="4439181"/>
              <a:ext cx="390663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7616881" y="4668418"/>
            <a:ext cx="3906637" cy="847227"/>
            <a:chOff x="7616881" y="4668418"/>
            <a:chExt cx="3906637" cy="847227"/>
          </a:xfrm>
        </p:grpSpPr>
        <p:sp>
          <p:nvSpPr>
            <p:cNvPr id="27" name="矩形 26"/>
            <p:cNvSpPr/>
            <p:nvPr/>
          </p:nvSpPr>
          <p:spPr bwMode="auto">
            <a:xfrm>
              <a:off x="8121000" y="5081299"/>
              <a:ext cx="3399488" cy="29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900" dirty="0"/>
                <a:t>Suitable for all categories business and personal presentation.</a:t>
              </a:r>
              <a:endParaRPr lang="en-US" altLang="zh-CN" sz="900" dirty="0"/>
            </a:p>
          </p:txBody>
        </p:sp>
        <p:sp>
          <p:nvSpPr>
            <p:cNvPr id="28" name="文本框 27"/>
            <p:cNvSpPr txBox="1"/>
            <p:nvPr/>
          </p:nvSpPr>
          <p:spPr bwMode="auto">
            <a:xfrm>
              <a:off x="8121000" y="4668418"/>
              <a:ext cx="33994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/>
                <a:t>中华古诗词知识图谱</a:t>
              </a:r>
              <a:r>
                <a:rPr lang="en-US" altLang="zh-CN" sz="1800" b="1" dirty="0"/>
                <a:t>PC</a:t>
              </a:r>
              <a:r>
                <a:rPr lang="zh-CN" altLang="en-US" sz="1800" b="1" dirty="0"/>
                <a:t>端</a:t>
              </a:r>
              <a:r>
                <a:rPr lang="zh-CN" altLang="en-US" sz="1800" b="1" dirty="0"/>
                <a:t>分析</a:t>
              </a:r>
              <a:endParaRPr lang="zh-CN" altLang="en-US" sz="1800" b="1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616881" y="4758673"/>
              <a:ext cx="446918" cy="482304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04</a:t>
              </a:r>
              <a:endPara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7616881" y="5515645"/>
              <a:ext cx="390663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Cesium 3D</a:t>
            </a:r>
            <a:r>
              <a:rPr lang="zh-CN" altLang="en-US" dirty="0"/>
              <a:t>模型</a:t>
            </a:r>
            <a:r>
              <a:rPr lang="zh-CN" altLang="en-US" dirty="0"/>
              <a:t>导入</a:t>
            </a:r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/>
              <a:t>导入</a:t>
            </a:r>
            <a:r>
              <a:rPr lang="en-US" altLang="zh-CN" b="1" dirty="0"/>
              <a:t>SU/3DMAX</a:t>
            </a:r>
            <a:r>
              <a:rPr lang="zh-CN" altLang="en-US" b="1" dirty="0"/>
              <a:t>模型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536700"/>
            <a:ext cx="5168900" cy="3035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910" y="1536700"/>
            <a:ext cx="6285865" cy="30353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9925" y="4572000"/>
            <a:ext cx="965390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/>
              <a:t>问题：</a:t>
            </a:r>
            <a:endParaRPr lang="zh-CN" altLang="en-US" sz="1400" b="1"/>
          </a:p>
          <a:p>
            <a:r>
              <a:rPr lang="en-US" altLang="zh-CN" sz="1400" b="1"/>
              <a:t>1.</a:t>
            </a:r>
            <a:r>
              <a:rPr lang="zh-CN" altLang="en-US" sz="1400" b="1"/>
              <a:t>现代底图</a:t>
            </a:r>
            <a:r>
              <a:rPr lang="en-US" altLang="zh-CN" sz="1400" b="1"/>
              <a:t>+</a:t>
            </a:r>
            <a:r>
              <a:rPr lang="zh-CN" altLang="en-US" sz="1400" b="1"/>
              <a:t>唐代建筑？位置如何</a:t>
            </a:r>
            <a:r>
              <a:rPr lang="zh-CN" altLang="en-US" sz="1400" b="1"/>
              <a:t>确定？</a:t>
            </a:r>
            <a:endParaRPr lang="zh-CN" altLang="en-US" sz="1400" b="1"/>
          </a:p>
          <a:p>
            <a:r>
              <a:rPr lang="en-US" altLang="zh-CN" sz="1400" b="1"/>
              <a:t>2.</a:t>
            </a:r>
            <a:r>
              <a:rPr lang="zh-CN" altLang="en-US" sz="1400" b="1"/>
              <a:t>场景还原的程度：单体建筑还是建筑群？除了建筑之外的元素，例如赠汪伦、望庐山瀑布、</a:t>
            </a:r>
            <a:r>
              <a:rPr lang="zh-CN" altLang="en-US" sz="1400" b="1"/>
              <a:t>蜀道难这类诗词如何</a:t>
            </a:r>
            <a:r>
              <a:rPr lang="zh-CN" altLang="en-US" sz="1400" b="1"/>
              <a:t>表现</a:t>
            </a:r>
            <a:endParaRPr lang="zh-CN" altLang="en-US" sz="1400" b="1"/>
          </a:p>
          <a:p>
            <a:r>
              <a:rPr lang="en-US" altLang="zh-CN" sz="1400" b="1"/>
              <a:t>3.</a:t>
            </a:r>
            <a:r>
              <a:rPr lang="zh-CN" altLang="en-US" sz="1400" b="1">
                <a:sym typeface="+mn-ea"/>
              </a:rPr>
              <a:t>界面衔接生硬</a:t>
            </a:r>
            <a:endParaRPr lang="zh-CN" altLang="en-US" sz="1400" b="1">
              <a:sym typeface="+mn-ea"/>
            </a:endParaRPr>
          </a:p>
          <a:p>
            <a:r>
              <a:rPr lang="en-US" altLang="zh-CN" sz="1400" b="1">
                <a:sym typeface="+mn-ea"/>
              </a:rPr>
              <a:t>4.</a:t>
            </a:r>
            <a:r>
              <a:rPr lang="zh-CN" altLang="en-US" sz="1400" b="1">
                <a:sym typeface="+mn-ea"/>
              </a:rPr>
              <a:t>手动导入效率低，步骤繁琐</a:t>
            </a:r>
            <a:endParaRPr lang="zh-CN" altLang="en-US" sz="1400" b="1"/>
          </a:p>
          <a:p>
            <a:r>
              <a:rPr lang="en-US" altLang="zh-CN" sz="1400" b="1"/>
              <a:t>5.</a:t>
            </a:r>
            <a:r>
              <a:rPr lang="zh-CN" altLang="en-US" sz="1400" b="1"/>
              <a:t>是否工作量都在建模</a:t>
            </a:r>
            <a:r>
              <a:rPr lang="en-US" altLang="zh-CN" sz="1400" b="1"/>
              <a:t>-</a:t>
            </a:r>
            <a:r>
              <a:rPr lang="zh-CN" altLang="en-US" sz="1400" b="1"/>
              <a:t>上传</a:t>
            </a:r>
            <a:r>
              <a:rPr lang="en-US" altLang="zh-CN" sz="1400" b="1"/>
              <a:t>Cesium</a:t>
            </a:r>
            <a:r>
              <a:rPr lang="zh-CN" altLang="en-US" sz="1400" b="1"/>
              <a:t>服务器上，代码量</a:t>
            </a:r>
            <a:r>
              <a:rPr lang="zh-CN" altLang="en-US" sz="1400" b="1"/>
              <a:t>不够</a:t>
            </a:r>
            <a:endParaRPr lang="zh-CN" altLang="en-US" sz="1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全知识</a:t>
            </a:r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2.1PC</a:t>
            </a:r>
            <a:r>
              <a:rPr lang="zh-CN" altLang="en-US" b="1" dirty="0"/>
              <a:t>端</a:t>
            </a:r>
            <a:r>
              <a:rPr lang="en-US" altLang="zh-CN" b="1" dirty="0"/>
              <a:t>/</a:t>
            </a:r>
            <a:r>
              <a:rPr lang="zh-CN" altLang="en-US" b="1" dirty="0"/>
              <a:t>移动端界面</a:t>
            </a:r>
            <a:r>
              <a:rPr lang="en-US" altLang="zh-CN" b="1" dirty="0"/>
              <a:t>UI</a:t>
            </a:r>
            <a:r>
              <a:rPr lang="zh-CN" altLang="en-US" b="1" dirty="0"/>
              <a:t>总览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476375"/>
            <a:ext cx="8725535" cy="4439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805" y="1349375"/>
            <a:ext cx="2133600" cy="46240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42950" y="5916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https://www.allhistory.com/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全知识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55" y="1536700"/>
            <a:ext cx="4880610" cy="250888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36700"/>
            <a:ext cx="4956175" cy="2545080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2.2PC</a:t>
            </a:r>
            <a:r>
              <a:rPr lang="zh-CN" altLang="en-US" b="1" dirty="0"/>
              <a:t>端时空地图</a:t>
            </a:r>
            <a:r>
              <a:rPr lang="en-US" altLang="zh-CN" b="1" dirty="0"/>
              <a:t>-</a:t>
            </a:r>
            <a:r>
              <a:rPr lang="zh-CN" altLang="en-US" b="1" dirty="0"/>
              <a:t>迁移路线</a:t>
            </a:r>
            <a:r>
              <a:rPr lang="zh-CN" altLang="en-US" b="1" dirty="0"/>
              <a:t>查询</a:t>
            </a:r>
            <a:endParaRPr lang="zh-CN" altLang="en-US" b="1" dirty="0"/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4133215"/>
            <a:ext cx="4879975" cy="2473325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130" y="4133215"/>
            <a:ext cx="4916805" cy="248920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 flipH="1">
            <a:off x="4030980" y="1170940"/>
            <a:ext cx="4862830" cy="53530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 algn="r">
              <a:lnSpc>
                <a:spcPct val="120000"/>
              </a:lnSpc>
            </a:pPr>
            <a:r>
              <a:rPr lang="en-US" altLang="zh-CN" sz="1200" dirty="0"/>
              <a:t>2D</a:t>
            </a:r>
            <a:r>
              <a:rPr lang="zh-CN" altLang="en-US" sz="1200" dirty="0"/>
              <a:t>底图（当时朝代疆界）</a:t>
            </a:r>
            <a:r>
              <a:rPr lang="en-US" altLang="zh-CN" sz="1200" dirty="0"/>
              <a:t>+  </a:t>
            </a:r>
            <a:r>
              <a:rPr lang="zh-CN" altLang="en-US" sz="1200" dirty="0"/>
              <a:t>兴趣点</a:t>
            </a:r>
            <a:r>
              <a:rPr lang="en-US" altLang="zh-CN" sz="1200" dirty="0"/>
              <a:t> + </a:t>
            </a:r>
            <a:r>
              <a:rPr lang="zh-CN" altLang="en-US" sz="1200" dirty="0"/>
              <a:t>信息详情框</a:t>
            </a:r>
            <a:r>
              <a:rPr lang="en-US" altLang="zh-CN" sz="1200" dirty="0"/>
              <a:t> + </a:t>
            </a:r>
            <a:r>
              <a:rPr lang="zh-CN" altLang="en-US" sz="1200" dirty="0"/>
              <a:t>时间轴</a:t>
            </a:r>
            <a:r>
              <a:rPr lang="en-US" altLang="zh-CN" sz="1200" dirty="0"/>
              <a:t>  </a:t>
            </a:r>
            <a:endParaRPr lang="en-US" altLang="zh-CN" sz="1200" dirty="0"/>
          </a:p>
        </p:txBody>
      </p:sp>
      <p:sp>
        <p:nvSpPr>
          <p:cNvPr id="72" name="文本框 71"/>
          <p:cNvSpPr txBox="1"/>
          <p:nvPr/>
        </p:nvSpPr>
        <p:spPr>
          <a:xfrm flipH="1">
            <a:off x="1522730" y="6536690"/>
            <a:ext cx="7910830" cy="53530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 algn="r">
              <a:lnSpc>
                <a:spcPct val="120000"/>
              </a:lnSpc>
            </a:pPr>
            <a:r>
              <a:rPr lang="zh-CN" sz="1200" dirty="0"/>
              <a:t>网页版地址：</a:t>
            </a:r>
            <a:r>
              <a:rPr sz="1200" dirty="0"/>
              <a:t>https://www.allhistory.com/map/detail/580716f70bd1be8d718b4567/5c7ceab7c6c5555bfc1535f5</a:t>
            </a:r>
            <a:endParaRPr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全</a:t>
            </a:r>
            <a:r>
              <a:rPr lang="zh-CN" altLang="en-US" dirty="0"/>
              <a:t>知识</a:t>
            </a:r>
            <a:endParaRPr lang="zh-CN" altLang="en-US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549400"/>
            <a:ext cx="9465945" cy="48171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9450" y="6379210"/>
            <a:ext cx="56026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https://www.allhistory.com/relation?id=580716f70bd1be8d718b4567</a:t>
            </a:r>
            <a:endParaRPr lang="zh-CN" altLang="en-US" sz="1400"/>
          </a:p>
        </p:txBody>
      </p: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2.3PC</a:t>
            </a:r>
            <a:r>
              <a:rPr lang="zh-CN" altLang="en-US" b="1" dirty="0"/>
              <a:t>端关系</a:t>
            </a:r>
            <a:r>
              <a:rPr lang="zh-CN" altLang="en-US" b="1" dirty="0"/>
              <a:t>图谱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 bwMode="auto">
          <a:xfrm>
            <a:off x="6281963" y="109220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全</a:t>
            </a:r>
            <a:r>
              <a:rPr lang="zh-CN" altLang="en-US" dirty="0"/>
              <a:t>知识</a:t>
            </a:r>
            <a:endParaRPr lang="zh-CN" altLang="en-US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679450" y="1534160"/>
            <a:ext cx="9653905" cy="5212080"/>
            <a:chOff x="1293" y="1774"/>
            <a:chExt cx="15203" cy="820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93" y="1774"/>
              <a:ext cx="15203" cy="77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293" y="9499"/>
              <a:ext cx="15203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400"/>
                <a:t>https://www.allhistory.com/relation/atobPath?id=580716f70bd1be8d718b4567&amp;to=580726c10bd1be037b8b4567</a:t>
              </a:r>
              <a:endParaRPr lang="zh-CN" altLang="en-US" sz="1400"/>
            </a:p>
          </p:txBody>
        </p:sp>
      </p:grp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2.4PC</a:t>
            </a:r>
            <a:r>
              <a:rPr lang="zh-CN" altLang="en-US" b="1" dirty="0"/>
              <a:t>端</a:t>
            </a:r>
            <a:r>
              <a:rPr lang="en-US" altLang="zh-CN" b="1" dirty="0"/>
              <a:t>A-B</a:t>
            </a:r>
            <a:r>
              <a:rPr lang="zh-CN" altLang="en-US" b="1" dirty="0"/>
              <a:t>路径</a:t>
            </a:r>
            <a:r>
              <a:rPr lang="zh-CN" altLang="en-US" b="1" dirty="0"/>
              <a:t>图谱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 bwMode="auto">
          <a:xfrm>
            <a:off x="6281963" y="109220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79450" y="-24"/>
            <a:ext cx="10850563" cy="1016660"/>
          </a:xfrm>
        </p:spPr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全知识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 flipH="1">
            <a:off x="1515110" y="6473190"/>
            <a:ext cx="7910830" cy="53530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 algn="r">
              <a:lnSpc>
                <a:spcPct val="120000"/>
              </a:lnSpc>
            </a:pPr>
            <a:r>
              <a:rPr lang="zh-CN" sz="1200" dirty="0"/>
              <a:t>网页版地址：</a:t>
            </a:r>
            <a:r>
              <a:rPr sz="1200" dirty="0"/>
              <a:t>https://www.allhistory.com/map/detail/580716f70bd1be8d718b4567/5c7ceab7c6c5555bfc1535f5</a:t>
            </a:r>
            <a:endParaRPr sz="12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21970" y="1446530"/>
            <a:ext cx="11606530" cy="5002530"/>
            <a:chOff x="822" y="2168"/>
            <a:chExt cx="18278" cy="787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" y="2174"/>
              <a:ext cx="3631" cy="787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47" y="2183"/>
              <a:ext cx="3610" cy="782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7" y="2174"/>
              <a:ext cx="3632" cy="787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0" y="2183"/>
              <a:ext cx="3624" cy="785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482" y="2168"/>
              <a:ext cx="3619" cy="7843"/>
            </a:xfrm>
            <a:prstGeom prst="rect">
              <a:avLst/>
            </a:prstGeom>
          </p:spPr>
        </p:pic>
      </p:grp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2.5</a:t>
            </a:r>
            <a:r>
              <a:rPr lang="zh-CN" altLang="en-US" b="1" dirty="0"/>
              <a:t>移动端时空地图</a:t>
            </a:r>
            <a:r>
              <a:rPr lang="en-US" altLang="zh-CN" b="1" dirty="0"/>
              <a:t>-</a:t>
            </a:r>
            <a:r>
              <a:rPr lang="zh-CN" altLang="en-US" b="1" dirty="0"/>
              <a:t>迁移路线</a:t>
            </a:r>
            <a:r>
              <a:rPr lang="en-US" altLang="zh-CN" b="1" dirty="0"/>
              <a:t>-</a:t>
            </a:r>
            <a:r>
              <a:rPr lang="zh-CN" altLang="en-US" b="1" dirty="0"/>
              <a:t>关系</a:t>
            </a:r>
            <a:r>
              <a:rPr lang="zh-CN" altLang="en-US" b="1" dirty="0"/>
              <a:t>图谱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唐诗别苑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2.1</a:t>
            </a:r>
            <a:r>
              <a:rPr lang="zh-CN" altLang="en-US" b="1" dirty="0"/>
              <a:t>知识图谱技术玩转</a:t>
            </a:r>
            <a:r>
              <a:rPr lang="zh-CN" altLang="en-US" b="1" dirty="0"/>
              <a:t>全唐诗</a:t>
            </a:r>
            <a:endParaRPr lang="zh-CN" altLang="en-US" b="1" dirty="0"/>
          </a:p>
        </p:txBody>
      </p:sp>
      <p:sp>
        <p:nvSpPr>
          <p:cNvPr id="70" name="文本框 69"/>
          <p:cNvSpPr txBox="1"/>
          <p:nvPr/>
        </p:nvSpPr>
        <p:spPr>
          <a:xfrm flipH="1">
            <a:off x="3235325" y="1130935"/>
            <a:ext cx="4862830" cy="53530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 algn="r">
              <a:lnSpc>
                <a:spcPct val="120000"/>
              </a:lnSpc>
            </a:pPr>
            <a:r>
              <a:rPr lang="zh-CN" sz="1200" dirty="0"/>
              <a:t>实现介绍</a:t>
            </a:r>
            <a:r>
              <a:rPr sz="1200" dirty="0"/>
              <a:t>https://www.sohu.com/a/249850837_670305</a:t>
            </a:r>
            <a:endParaRPr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640580" y="5187315"/>
            <a:ext cx="93167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/>
              <a:t>网页版</a:t>
            </a:r>
            <a:r>
              <a:rPr lang="zh-CN" altLang="en-US" sz="1400" b="1"/>
              <a:t>地址：http://tsby.e.bnu.edu.cn/</a:t>
            </a:r>
            <a:endParaRPr lang="zh-CN" altLang="en-US" sz="1400" b="1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" y="1666240"/>
            <a:ext cx="5827395" cy="33394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235" y="1666240"/>
            <a:ext cx="5596890" cy="3358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唐诗别苑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PC</a:t>
            </a:r>
            <a:r>
              <a:rPr lang="zh-CN" altLang="en-US" b="1" dirty="0"/>
              <a:t>端时空地图</a:t>
            </a:r>
            <a:r>
              <a:rPr lang="en-US" altLang="zh-CN" b="1" dirty="0"/>
              <a:t>-</a:t>
            </a:r>
            <a:r>
              <a:rPr lang="zh-CN" altLang="en-US" b="1" dirty="0"/>
              <a:t>迁移路线</a:t>
            </a:r>
            <a:r>
              <a:rPr lang="zh-CN" altLang="en-US" b="1" dirty="0"/>
              <a:t>查询</a:t>
            </a:r>
            <a:endParaRPr lang="zh-CN" altLang="en-US" b="1" dirty="0"/>
          </a:p>
        </p:txBody>
      </p:sp>
      <p:sp>
        <p:nvSpPr>
          <p:cNvPr id="70" name="文本框 69"/>
          <p:cNvSpPr txBox="1"/>
          <p:nvPr/>
        </p:nvSpPr>
        <p:spPr>
          <a:xfrm flipH="1">
            <a:off x="4030980" y="1170940"/>
            <a:ext cx="4862830" cy="53530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 algn="r">
              <a:lnSpc>
                <a:spcPct val="120000"/>
              </a:lnSpc>
            </a:pPr>
            <a:r>
              <a:rPr lang="en-US" altLang="zh-CN" sz="1200" dirty="0"/>
              <a:t>2D</a:t>
            </a:r>
            <a:r>
              <a:rPr lang="zh-CN" altLang="en-US" sz="1200" dirty="0"/>
              <a:t>底图（高德地图接口）</a:t>
            </a:r>
            <a:r>
              <a:rPr lang="en-US" altLang="zh-CN" sz="1200" dirty="0"/>
              <a:t>+  </a:t>
            </a:r>
            <a:r>
              <a:rPr lang="zh-CN" altLang="en-US" sz="1200" dirty="0"/>
              <a:t>兴趣点</a:t>
            </a:r>
            <a:r>
              <a:rPr lang="en-US" altLang="zh-CN" sz="1200" dirty="0"/>
              <a:t> + </a:t>
            </a:r>
            <a:r>
              <a:rPr lang="zh-CN" altLang="en-US" sz="1200" dirty="0"/>
              <a:t>动态的线路</a:t>
            </a:r>
            <a:r>
              <a:rPr lang="zh-CN" altLang="en-US" sz="1200" dirty="0"/>
              <a:t>示意</a:t>
            </a:r>
            <a:endParaRPr lang="zh-CN" altLang="en-US" sz="12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631950"/>
            <a:ext cx="6556375" cy="33413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0" y="1607185"/>
            <a:ext cx="6671310" cy="33915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204085" y="5134610"/>
            <a:ext cx="93167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http://tsby.e.bnu.edu.cn/web/sc/home/migration?id=5CCA4A88-32BF-4E53-A046-F83C6FBE8AB4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唐诗别苑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b="1" dirty="0"/>
              <a:t>PC</a:t>
            </a:r>
            <a:r>
              <a:rPr lang="zh-CN" altLang="en-US" b="1" dirty="0"/>
              <a:t>端其他</a:t>
            </a:r>
            <a:r>
              <a:rPr lang="zh-CN" altLang="en-US" b="1" dirty="0"/>
              <a:t>功能</a:t>
            </a:r>
            <a:endParaRPr lang="zh-CN" altLang="en-US" b="1" dirty="0"/>
          </a:p>
        </p:txBody>
      </p:sp>
      <p:sp>
        <p:nvSpPr>
          <p:cNvPr id="70" name="文本框 69"/>
          <p:cNvSpPr txBox="1"/>
          <p:nvPr/>
        </p:nvSpPr>
        <p:spPr>
          <a:xfrm flipH="1">
            <a:off x="-1191895" y="5325110"/>
            <a:ext cx="4862830" cy="53530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 algn="r">
              <a:lnSpc>
                <a:spcPct val="120000"/>
              </a:lnSpc>
            </a:pPr>
            <a:r>
              <a:rPr lang="zh-CN" altLang="en-US" b="1" dirty="0"/>
              <a:t>关系图谱</a:t>
            </a:r>
            <a:endParaRPr lang="zh-CN" altLang="en-US" b="1" dirty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511810" y="1460500"/>
            <a:ext cx="4851400" cy="38646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5811520" y="1460500"/>
            <a:ext cx="4507865" cy="3865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 flipH="1">
            <a:off x="4337685" y="5325745"/>
            <a:ext cx="4862830" cy="53530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 algn="r">
              <a:lnSpc>
                <a:spcPct val="120000"/>
              </a:lnSpc>
            </a:pPr>
            <a:r>
              <a:rPr lang="zh-CN" altLang="en-US" b="1" dirty="0"/>
              <a:t>诗词地点</a:t>
            </a:r>
            <a:r>
              <a:rPr lang="zh-CN" altLang="en-US" b="1" dirty="0"/>
              <a:t>热力图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中华古诗词知识图谱之网页设计及实现 </a:t>
            </a:r>
            <a:endParaRPr lang="en-US" altLang="zh-CN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7" name="文本框 66"/>
          <p:cNvSpPr txBox="1"/>
          <p:nvPr/>
        </p:nvSpPr>
        <p:spPr bwMode="auto">
          <a:xfrm>
            <a:off x="679358" y="1123950"/>
            <a:ext cx="3707200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/>
              <a:t>界面</a:t>
            </a:r>
            <a:r>
              <a:rPr lang="en-US" altLang="zh-CN" b="1" dirty="0"/>
              <a:t>UI+</a:t>
            </a:r>
            <a:r>
              <a:rPr lang="zh-CN" altLang="en-US" b="1" dirty="0"/>
              <a:t>功能</a:t>
            </a:r>
            <a:r>
              <a:rPr lang="zh-CN" altLang="en-US" b="1" dirty="0"/>
              <a:t>分析</a:t>
            </a:r>
            <a:endParaRPr lang="zh-CN" altLang="en-US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065270"/>
            <a:ext cx="2717800" cy="1714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85" y="1661795"/>
            <a:ext cx="7200265" cy="41103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106420" y="5860415"/>
            <a:ext cx="1427480" cy="3492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r">
              <a:lnSpc>
                <a:spcPct val="120000"/>
              </a:lnSpc>
            </a:pPr>
            <a:r>
              <a:rPr lang="zh-CN" altLang="en-US" sz="1400"/>
              <a:t>前端可视化大屏</a:t>
            </a:r>
            <a:endParaRPr lang="zh-CN" altLang="en-US" sz="1400"/>
          </a:p>
        </p:txBody>
      </p:sp>
      <p:sp>
        <p:nvSpPr>
          <p:cNvPr id="13" name="文本框 12"/>
          <p:cNvSpPr txBox="1"/>
          <p:nvPr/>
        </p:nvSpPr>
        <p:spPr>
          <a:xfrm>
            <a:off x="10397490" y="5430520"/>
            <a:ext cx="894080" cy="3492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r">
              <a:lnSpc>
                <a:spcPct val="120000"/>
              </a:lnSpc>
            </a:pPr>
            <a:r>
              <a:rPr lang="zh-CN" altLang="en-US" sz="1400"/>
              <a:t>情感</a:t>
            </a:r>
            <a:r>
              <a:rPr lang="zh-CN" altLang="en-US" sz="1400"/>
              <a:t>分析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2783840" y="623887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实现</a:t>
            </a:r>
            <a:r>
              <a:rPr lang="zh-CN" altLang="en-US" sz="1400"/>
              <a:t>博客：https://blog.51cto.com/u_14824425/5707872</a:t>
            </a:r>
            <a:endParaRPr lang="zh-CN" altLang="en-US" sz="1400"/>
          </a:p>
          <a:p>
            <a:r>
              <a:rPr lang="zh-CN" altLang="en-US" sz="1400"/>
              <a:t>亮点：</a:t>
            </a:r>
            <a:r>
              <a:rPr lang="zh-CN" altLang="en-US" sz="1400" b="1"/>
              <a:t>BILSTM情感分析</a:t>
            </a:r>
            <a:r>
              <a:rPr lang="zh-CN" altLang="en-US" sz="1400"/>
              <a:t>模型，</a:t>
            </a:r>
            <a:r>
              <a:rPr lang="en-US" altLang="zh-CN" sz="1400" b="1"/>
              <a:t>D3</a:t>
            </a:r>
            <a:r>
              <a:rPr lang="zh-CN" altLang="en-US" sz="1400" b="1"/>
              <a:t>框架</a:t>
            </a:r>
            <a:r>
              <a:rPr lang="zh-CN" altLang="en-US" sz="1400"/>
              <a:t>展示诗人关系</a:t>
            </a:r>
            <a:r>
              <a:rPr lang="zh-CN" altLang="en-US" sz="1400"/>
              <a:t>知识图谱</a:t>
            </a:r>
            <a:endParaRPr lang="en-US" altLang="zh-CN" sz="1400"/>
          </a:p>
        </p:txBody>
      </p:sp>
      <p:pic>
        <p:nvPicPr>
          <p:cNvPr id="103" name="图片 102"/>
          <p:cNvPicPr/>
          <p:nvPr/>
        </p:nvPicPr>
        <p:blipFill>
          <a:blip r:embed="rId3"/>
          <a:stretch>
            <a:fillRect/>
          </a:stretch>
        </p:blipFill>
        <p:spPr>
          <a:xfrm>
            <a:off x="7576185" y="1661795"/>
            <a:ext cx="4121150" cy="2339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10803255" y="4065270"/>
            <a:ext cx="894080" cy="3492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r">
              <a:lnSpc>
                <a:spcPct val="120000"/>
              </a:lnSpc>
            </a:pPr>
            <a:r>
              <a:rPr lang="zh-CN" altLang="en-US" sz="1400"/>
              <a:t>关系</a:t>
            </a:r>
            <a:r>
              <a:rPr lang="zh-CN" altLang="en-US" sz="1400"/>
              <a:t>图谱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NSwiaGRpZCI6IjA0YjVjOGU0ZDMzMWVjMzNiMTA3OTc1NDY5NzgzZTcwIiwidXNlckNvdW50Ijo1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57AA"/>
      </a:accent1>
      <a:accent2>
        <a:srgbClr val="FE7B01"/>
      </a:accent2>
      <a:accent3>
        <a:srgbClr val="527EA7"/>
      </a:accent3>
      <a:accent4>
        <a:srgbClr val="FB971C"/>
      </a:accent4>
      <a:accent5>
        <a:srgbClr val="0151AA"/>
      </a:accent5>
      <a:accent6>
        <a:srgbClr val="3B3B3B"/>
      </a:accent6>
      <a:hlink>
        <a:srgbClr val="4472C4"/>
      </a:hlink>
      <a:folHlink>
        <a:srgbClr val="BFBFBF"/>
      </a:folHlink>
    </a:clrScheme>
    <a:fontScheme name="rkrqb1d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1555</Words>
  <Application>WPS 演示</Application>
  <PresentationFormat>宽屏</PresentationFormat>
  <Paragraphs>159</Paragraphs>
  <Slides>12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Impact</vt:lpstr>
      <vt:lpstr>微软雅黑</vt:lpstr>
      <vt:lpstr>Open Sans Light</vt:lpstr>
      <vt:lpstr>Calibri</vt:lpstr>
      <vt:lpstr>Lato Regular</vt:lpstr>
      <vt:lpstr>AMGDT</vt:lpstr>
      <vt:lpstr>Sk-Modernist</vt:lpstr>
      <vt:lpstr>San Francisco Display Bold</vt:lpstr>
      <vt:lpstr>San Francisco Display Light</vt:lpstr>
      <vt:lpstr>Arial Unicode MS</vt:lpstr>
      <vt:lpstr>等线</vt:lpstr>
      <vt:lpstr>Open Sans</vt:lpstr>
      <vt:lpstr>Office 主题​​</vt:lpstr>
      <vt:lpstr>9.30前端训练营</vt:lpstr>
      <vt:lpstr>PowerPoint 演示文稿</vt:lpstr>
      <vt:lpstr>2.1 全知识</vt:lpstr>
      <vt:lpstr>2.1 全知识-PC端</vt:lpstr>
      <vt:lpstr>1.1 Click to edit Master title style</vt:lpstr>
      <vt:lpstr>3.1 知识图谱-全知识</vt:lpstr>
      <vt:lpstr>3.1 知识图谱-全知识</vt:lpstr>
      <vt:lpstr>2.1 全知识 </vt:lpstr>
      <vt:lpstr>2.1 全知识 </vt:lpstr>
      <vt:lpstr>2.2 唐诗别苑 </vt:lpstr>
      <vt:lpstr>2.2 唐诗别苑 </vt:lpstr>
      <vt:lpstr>3 唐诗别苑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Black Omahawk</dc:creator>
  <cp:lastModifiedBy>Black Omahawk</cp:lastModifiedBy>
  <cp:revision>15</cp:revision>
  <dcterms:created xsi:type="dcterms:W3CDTF">1900-01-01T00:00:00Z</dcterms:created>
  <dcterms:modified xsi:type="dcterms:W3CDTF">2022-09-30T10:00:04Z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KSOTemplateUUID">
    <vt:lpwstr>v1.0_mb_Bo8foXNFzSMQgqd67K050Q==</vt:lpwstr>
  </property>
  <property fmtid="{D5CDD505-2E9C-101B-9397-08002B2CF9AE}" pid="4" name="ICV">
    <vt:lpwstr>9399C128979C4467B4C17422CACFC37E</vt:lpwstr>
  </property>
</Properties>
</file>